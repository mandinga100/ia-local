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viewPr>
    <p:normalViewPr>
      <p:restoredLeft sz="15620"/>
      <p:restoredTop sz="94600"/>
    </p:normalViewPr>
  </p:viewPr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s-CL"/>
              <a:t>Abrir la sesión enfatizando el objetivo estratégico: convertir las capacidades de IA local y automatización en eficiencia medible y ROI en 6 meses.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s-CL"/>
              <a:t>Puntualizar que la columna izquierda representa costos hundidos actuales y la derecha el ahorro proyectado.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s-CL"/>
              <a:t>Detallar que el 100% de soberanía es clave para el área legal y de auditoría interna.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s-CL"/>
              <a:t>Subrayar que cada fase cuenta con entregables y criterios de aceptación formalmente auditados.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s-CL"/>
              <a:t>Cerrar con llamado explícito a la acción solicitando la firma del acta de inicio de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675120"/>
            <a:ext cx="11686032" cy="182880"/>
          </a:xfrm>
          <a:prstGeom prst="rect">
            <a:avLst/>
          </a:prstGeom>
          <a:solidFill>
            <a:srgbClr val="13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097280"/>
            <a:ext cx="7315200" cy="4572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 lang="es-CL">
                <a:solidFill>
                  <a:srgbClr val="38BDF8"/>
                </a:solidFill>
                <a:latin typeface="Calibri"/>
              </a:rPr>
              <a:t>FARO CONSULTING GROUP  |  ESTRATEGIA &amp; TRANSFORMACIÓN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lang="es-CL"/>
              <a:t>Transformación Digital &amp; Estrategia IA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CBD5E1"/>
                </a:solidFill>
                <a:latin typeface="Calibri"/>
              </a:defRPr>
            </a:pPr>
            <a:r>
              <a:rPr lang="es-CL"/>
              <a:t>Hoja de ruta integral para la modernización de procesos y ventaja competitiva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60720"/>
            <a:ext cx="9601200" cy="5486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 lang="es-CL">
                <a:solidFill>
                  <a:srgbClr val="94A3B8"/>
                </a:solidFill>
                <a:latin typeface="Calibri"/>
              </a:rPr>
              <a:t>Cliente: Dirección General &amp; Comité Ejecutivo   |   Preparado por: Faro Consulting Group — Práctica de Estrategia Digital   |   Fecha: 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91440"/>
            <a:ext cx="13716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3200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 lang="es-CL">
                <a:solidFill>
                  <a:srgbClr val="1D4ED8"/>
                </a:solidFill>
                <a:latin typeface="Calibri"/>
              </a:rPr>
              <a:t>01. DIAGNÓSTICO EJECUTIVO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Calibri"/>
              </a:defRPr>
            </a:pPr>
            <a:r>
              <a:rPr lang="es-CL"/>
              <a:t>Diagnóstico Estratégico y Oportunidad de Mercado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41148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 lang="es-CL">
                <a:solidFill>
                  <a:srgbClr val="64748B"/>
                </a:solidFill>
                <a:latin typeface="Calibri"/>
              </a:rPr>
              <a:t>Evaluación del estado actual de operaciones frente a benchmarks del sector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 lang="es-CL">
                <a:solidFill>
                  <a:srgbClr val="64748B"/>
                </a:solidFill>
                <a:latin typeface="Calibri"/>
              </a:rPr>
              <a:t>Faro Consulting Group  |  Documento Confidencial de Asesoría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0" y="6492240"/>
            <a:ext cx="4572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5202936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91640"/>
            <a:ext cx="5202936" cy="6400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801368"/>
            <a:ext cx="4837176" cy="41148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 lang="es-CL">
                <a:solidFill>
                  <a:srgbClr val="FFFFFF"/>
                </a:solidFill>
                <a:latin typeface="Calibri"/>
              </a:rPr>
              <a:t>Desafíos Operativos Actuales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468880"/>
            <a:ext cx="474573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800"/>
              </a:spcAft>
            </a:pPr>
            <a:r>
              <a:rPr sz="1200" lang="es-CL">
                <a:solidFill>
                  <a:srgbClr val="1E293B"/>
                </a:solidFill>
                <a:latin typeface="Calibri"/>
              </a:rPr>
              <a:t>•  Sistemas heredados generan un 38% de sobrecosto operativo en tareas repetitivas.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sz="1200" lang="es-CL">
                <a:solidFill>
                  <a:srgbClr val="1E293B"/>
                </a:solidFill>
                <a:latin typeface="Calibri"/>
              </a:rPr>
              <a:t>•  Dispersión de información documental crítica retrasa la toma de decisiones en un promedio de 4.2 días.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sz="1200" lang="es-CL">
                <a:solidFill>
                  <a:srgbClr val="1E293B"/>
                </a:solidFill>
                <a:latin typeface="Calibri"/>
              </a:rPr>
              <a:t>•  Riesgo de cumplimiento normativo ante normativas crecientes de gobernanza y privacidad de datos.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1691640"/>
            <a:ext cx="5202936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4496" y="1691640"/>
            <a:ext cx="5202936" cy="640080"/>
          </a:xfrm>
          <a:prstGeom prst="rect">
            <a:avLst/>
          </a:prstGeom>
          <a:solidFill>
            <a:srgbClr val="13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801368"/>
            <a:ext cx="4837176" cy="41148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 lang="es-CL">
                <a:solidFill>
                  <a:srgbClr val="FFFFFF"/>
                </a:solidFill>
                <a:latin typeface="Calibri"/>
              </a:rPr>
              <a:t>Propuesta de Valor &amp; Solución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468880"/>
            <a:ext cx="474573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800"/>
              </a:spcAft>
            </a:pPr>
            <a:r>
              <a:rPr sz="1200" lang="es-CL">
                <a:solidFill>
                  <a:srgbClr val="1E293B"/>
                </a:solidFill>
                <a:latin typeface="Calibri"/>
              </a:rPr>
              <a:t>•  Implementación de arquitectura IA soberana local con control absoluto de privacidad y seguridad.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sz="1200" lang="es-CL">
                <a:solidFill>
                  <a:srgbClr val="1E293B"/>
                </a:solidFill>
                <a:latin typeface="Calibri"/>
              </a:rPr>
              <a:t>•  Automatización de auditorías y procesamiento de contratos reduciendo tiempos a minutos.</a:t>
            </a:r>
          </a:p>
          <a:p>
            <a:pPr>
              <a:spcBef>
                <a:spcPts val="300"/>
              </a:spcBef>
              <a:spcAft>
                <a:spcPts val="800"/>
              </a:spcAft>
            </a:pPr>
            <a:r>
              <a:rPr sz="1200" lang="es-CL">
                <a:solidFill>
                  <a:srgbClr val="1E293B"/>
                </a:solidFill>
                <a:latin typeface="Calibri"/>
              </a:rPr>
              <a:t>•  Consolidación de un ecosistema escalable de skills que potencia al equipo multidisciplinario.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91440"/>
            <a:ext cx="13716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3200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 lang="es-CL">
                <a:solidFill>
                  <a:srgbClr val="1D4ED8"/>
                </a:solidFill>
                <a:latin typeface="Calibri"/>
              </a:rPr>
              <a:t>02. IMPACTO &amp; RENDIMIENTO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Calibri"/>
              </a:defRPr>
            </a:pPr>
            <a:r>
              <a:rPr lang="es-CL"/>
              <a:t>Impacto Proyectado y Retorno de Inversión (ROI)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41148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 lang="es-CL">
                <a:solidFill>
                  <a:srgbClr val="64748B"/>
                </a:solidFill>
                <a:latin typeface="Calibri"/>
              </a:rPr>
              <a:t>Métricas cuantitativas estimadas al cabo del primer año de implementación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 lang="es-CL">
                <a:solidFill>
                  <a:srgbClr val="64748B"/>
                </a:solidFill>
                <a:latin typeface="Calibri"/>
              </a:rPr>
              <a:t>Faro Consulting Group  |  Documento Confidencial de Asesoría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0" y="6492240"/>
            <a:ext cx="4572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247573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28800"/>
            <a:ext cx="2475738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94560"/>
            <a:ext cx="2201418" cy="10058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 lang="es-CL">
                <a:solidFill>
                  <a:srgbClr val="1D4ED8"/>
                </a:solidFill>
                <a:latin typeface="Calibri"/>
              </a:rPr>
              <a:t>+65%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91840"/>
            <a:ext cx="2201418" cy="5486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 lang="es-CL">
                <a:solidFill>
                  <a:srgbClr val="0B2545"/>
                </a:solidFill>
                <a:latin typeface="Calibri"/>
              </a:rPr>
              <a:t>Velocidad Operativa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931920"/>
            <a:ext cx="1744218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2109978" cy="173736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 lang="es-CL">
                <a:solidFill>
                  <a:srgbClr val="64748B"/>
                </a:solidFill>
                <a:latin typeface="Calibri"/>
              </a:rPr>
              <a:t>Aceleración en el análisis forense y auditoría documental integral.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81578" y="1828800"/>
            <a:ext cx="247573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81578" y="1828800"/>
            <a:ext cx="2475738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8738" y="2194560"/>
            <a:ext cx="2201418" cy="10058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 lang="es-CL">
                <a:solidFill>
                  <a:srgbClr val="D97706"/>
                </a:solidFill>
                <a:latin typeface="Calibri"/>
              </a:rPr>
              <a:t>4.8x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8738" y="3291840"/>
            <a:ext cx="2201418" cy="5486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 lang="es-CL">
                <a:solidFill>
                  <a:srgbClr val="0B2545"/>
                </a:solidFill>
                <a:latin typeface="Calibri"/>
              </a:rPr>
              <a:t>Retorno de Inversión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7338" y="3931920"/>
            <a:ext cx="1744218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64458" y="4114800"/>
            <a:ext cx="2109978" cy="173736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 lang="es-CL">
                <a:solidFill>
                  <a:srgbClr val="64748B"/>
                </a:solidFill>
                <a:latin typeface="Calibri"/>
              </a:rPr>
              <a:t>ROI cuantificado a 12 meses basado en reducción de horas hombre y licencias externas.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1828800"/>
            <a:ext cx="247573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1828800"/>
            <a:ext cx="2475738" cy="109728"/>
          </a:xfrm>
          <a:prstGeom prst="rect">
            <a:avLst/>
          </a:prstGeom>
          <a:solidFill>
            <a:srgbClr val="13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8796" y="2194560"/>
            <a:ext cx="2201418" cy="10058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 lang="es-CL">
                <a:solidFill>
                  <a:srgbClr val="133C55"/>
                </a:solidFill>
                <a:latin typeface="Calibri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8796" y="3291840"/>
            <a:ext cx="2201418" cy="5486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 lang="es-CL">
                <a:solidFill>
                  <a:srgbClr val="0B2545"/>
                </a:solidFill>
                <a:latin typeface="Calibri"/>
              </a:rPr>
              <a:t>Soberanía de Datos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97396" y="3931920"/>
            <a:ext cx="1744218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4516" y="4114800"/>
            <a:ext cx="2109978" cy="173736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 lang="es-CL">
                <a:solidFill>
                  <a:srgbClr val="64748B"/>
                </a:solidFill>
                <a:latin typeface="Calibri"/>
              </a:rPr>
              <a:t>Procesamiento totalmente local on-premise sin fuga a nubes de terceros.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81694" y="1828800"/>
            <a:ext cx="2475738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81694" y="1828800"/>
            <a:ext cx="247573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18854" y="2194560"/>
            <a:ext cx="2201418" cy="10058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400" b="1" i="0" lang="es-CL">
                <a:solidFill>
                  <a:srgbClr val="38BDF8"/>
                </a:solidFill>
                <a:latin typeface="Calibri"/>
              </a:rPr>
              <a:t>-40%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8854" y="3291840"/>
            <a:ext cx="2201418" cy="5486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 lang="es-CL">
                <a:solidFill>
                  <a:srgbClr val="0B2545"/>
                </a:solidFill>
                <a:latin typeface="Calibri"/>
              </a:rPr>
              <a:t>Margen de Error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47454" y="3931920"/>
            <a:ext cx="1744218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64574" y="4114800"/>
            <a:ext cx="2109978" cy="173736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 lang="es-CL">
                <a:solidFill>
                  <a:srgbClr val="64748B"/>
                </a:solidFill>
                <a:latin typeface="Calibri"/>
              </a:rPr>
              <a:t>Disminución de discrepancias contractuales mediante validación automatizada.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91440"/>
            <a:ext cx="13716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3200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 lang="es-CL">
                <a:solidFill>
                  <a:srgbClr val="1D4ED8"/>
                </a:solidFill>
                <a:latin typeface="Calibri"/>
              </a:rPr>
              <a:t>03. PLAN DE TRABAJO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Calibri"/>
              </a:defRPr>
            </a:pPr>
            <a:r>
              <a:rPr lang="es-CL"/>
              <a:t>Fases de la Metodología FaroCG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41148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 lang="es-CL">
                <a:solidFill>
                  <a:srgbClr val="64748B"/>
                </a:solidFill>
                <a:latin typeface="Calibri"/>
              </a:rPr>
              <a:t>Plan de despliegue progresivo estructurado en cuatro hitos críticos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 lang="es-CL">
                <a:solidFill>
                  <a:srgbClr val="64748B"/>
                </a:solidFill>
                <a:latin typeface="Calibri"/>
              </a:rPr>
              <a:t>Faro Consulting Group  |  Documento Confidencial de Asesoría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0" y="6492240"/>
            <a:ext cx="4572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1072591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1993392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084832"/>
            <a:ext cx="731520" cy="5486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 lang="es-CL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1965960"/>
            <a:ext cx="9144000" cy="36576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 lang="es-CL">
                <a:solidFill>
                  <a:srgbClr val="0B2545"/>
                </a:solidFill>
                <a:latin typeface="Calibri"/>
              </a:rPr>
              <a:t>Auditoría &amp; Descubrimiento de Infraestructura (Semanas 1-2)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20" y="2331720"/>
            <a:ext cx="9144000" cy="4572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 lang="es-CL">
                <a:solidFill>
                  <a:srgbClr val="64748B"/>
                </a:solidFill>
                <a:latin typeface="Calibri"/>
              </a:rPr>
              <a:t>Levantamiento de capacidades de cómputo local, modelos compatibles y flujos prioritarios.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017520"/>
            <a:ext cx="1072591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" y="3182112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273552"/>
            <a:ext cx="731520" cy="5486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 lang="es-CL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20" y="3154680"/>
            <a:ext cx="9144000" cy="36576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 lang="es-CL">
                <a:solidFill>
                  <a:srgbClr val="0B2545"/>
                </a:solidFill>
                <a:latin typeface="Calibri"/>
              </a:rPr>
              <a:t>Despliegue de Gateway &amp; Agentes Especializados (Semanas 3-5)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20" y="3520440"/>
            <a:ext cx="9144000" cy="4572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 lang="es-CL">
                <a:solidFill>
                  <a:srgbClr val="64748B"/>
                </a:solidFill>
                <a:latin typeface="Calibri"/>
              </a:rPr>
              <a:t>Configuración del entorno soberano, integración de skills a la medida y bases vectoriales.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206240"/>
            <a:ext cx="1072591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4370832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62272"/>
            <a:ext cx="731520" cy="5486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 lang="es-CL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20" y="4343400"/>
            <a:ext cx="9144000" cy="36576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 lang="es-CL">
                <a:solidFill>
                  <a:srgbClr val="0B2545"/>
                </a:solidFill>
                <a:latin typeface="Calibri"/>
              </a:rPr>
              <a:t>Piloto Operativo Multidocumental (Semanas 6-8)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20" y="4709160"/>
            <a:ext cx="9144000" cy="4572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 lang="es-CL">
                <a:solidFill>
                  <a:srgbClr val="64748B"/>
                </a:solidFill>
                <a:latin typeface="Calibri"/>
              </a:rPr>
              <a:t>Pruebas de estrés de análisis documental en paralelo con retroalimentación en tiempo real.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394960"/>
            <a:ext cx="1072591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0120" y="5559552"/>
            <a:ext cx="731520" cy="7315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650992"/>
            <a:ext cx="731520" cy="5486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 lang="es-CL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20" y="5532120"/>
            <a:ext cx="9144000" cy="36576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 lang="es-CL">
                <a:solidFill>
                  <a:srgbClr val="0B2545"/>
                </a:solidFill>
                <a:latin typeface="Calibri"/>
              </a:rPr>
              <a:t>Pase a Producción &amp; Capacitación Directiva (Semanas 9-10)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20" y="5897880"/>
            <a:ext cx="9144000" cy="45720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 lang="es-CL">
                <a:solidFill>
                  <a:srgbClr val="64748B"/>
                </a:solidFill>
                <a:latin typeface="Calibri"/>
              </a:rPr>
              <a:t>Transferencia metodológica de mejores prácticas de prompting y gobernanza continua.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9144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91440"/>
            <a:ext cx="137160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3200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 lang="es-CL">
                <a:solidFill>
                  <a:srgbClr val="1D4ED8"/>
                </a:solidFill>
                <a:latin typeface="Calibri"/>
              </a:rPr>
              <a:t>04. CONCLUSIÓN ESTRATÉGICA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Calibri"/>
              </a:defRPr>
            </a:pPr>
            <a:r>
              <a:rPr lang="es-CL"/>
              <a:t>Recomendaciones Finales del Consejo Consultor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10698480" cy="41148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 lang="es-CL">
                <a:solidFill>
                  <a:srgbClr val="64748B"/>
                </a:solidFill>
                <a:latin typeface="Calibri"/>
              </a:rPr>
              <a:t>Síntesis directiva para la aprobación del presupuesto y calendario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 lang="es-CL">
                <a:solidFill>
                  <a:srgbClr val="64748B"/>
                </a:solidFill>
                <a:latin typeface="Calibri"/>
              </a:rPr>
              <a:t>Faro Consulting Group  |  Documento Confidencial de Asesoría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0" y="6492240"/>
            <a:ext cx="4572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37360"/>
            <a:ext cx="10725912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737360"/>
            <a:ext cx="137160" cy="4389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011680"/>
            <a:ext cx="10058400" cy="5486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 lang="es-CL">
                <a:solidFill>
                  <a:srgbClr val="0B2545"/>
                </a:solidFill>
                <a:latin typeface="Calibri"/>
              </a:rPr>
              <a:t>La Modernización No Es Un Costo, Es Una Ventaja Competitiva Defensiva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517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lang="es-CL">
                <a:solidFill>
                  <a:srgbClr val="1E293B"/>
                </a:solidFill>
                <a:latin typeface="Calibri"/>
              </a:rPr>
              <a:t>La adopción de una arquitectura de IA local privada representa la ruta óptima para maximizar la seguridad informática y eliminar costos recurrentes de API propietarias.</a:t>
            </a:r>
          </a:p>
          <a:p>
            <a:pPr>
              <a:spcAft>
                <a:spcPts val="800"/>
              </a:spcAft>
            </a:pPr>
            <a:r>
              <a:rPr sz="1200" lang="es-CL">
                <a:solidFill>
                  <a:srgbClr val="1E293B"/>
                </a:solidFill>
                <a:latin typeface="Calibri"/>
              </a:rPr>
              <a:t>La estandarización de herramientas como 'fcg-ppt' asegura coherencia de marca ininterrumpida y un estándar corporativo de excelencia en cada interacción con stakeholders.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846320"/>
            <a:ext cx="1005840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4846320"/>
            <a:ext cx="73152" cy="1005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919472"/>
            <a:ext cx="9692640" cy="27432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 lang="es-CL">
                <a:solidFill>
                  <a:srgbClr val="1D4ED8"/>
                </a:solidFill>
                <a:latin typeface="Calibri"/>
              </a:rPr>
              <a:t>IMPLICANCIA ESTRATÉGICA / CONCLUSIÓN CLAVE: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212080"/>
            <a:ext cx="9692640" cy="5486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 lang="es-CL">
                <a:solidFill>
                  <a:srgbClr val="1E293B"/>
                </a:solidFill>
                <a:latin typeface="Calibri"/>
              </a:rPr>
              <a:t>La aprobación del presupuesto en Q3 asegura la captura de eficiencias operativas antes del cierre fiscal, consolidando a la organización como líder tecnológico en su industria.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999" cy="182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32004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18320" cy="109728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 i="0" lang="es-CL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0" lang="es-CL">
                <a:solidFill>
                  <a:srgbClr val="CBD5E1"/>
                </a:solidFill>
                <a:latin typeface="Calibri"/>
              </a:rPr>
              <a:t>Faro Consulting Group — Guiando Decisiones Estratégicas con Inteligencia y 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18320" cy="548640"/>
          </a:xfrm>
          <a:prstGeom prst="rect">
            <a:avLst/>
          </a:prstGeom>
          <a:noFill/>
        </p:spPr>
        <p:txBody>
          <a:bodyPr wrap="square" anchor="t" lIns="109728" rIns="109728" tIns="109728" bIns="10972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 lang="es-CL">
                <a:solidFill>
                  <a:srgbClr val="38BDF8"/>
                </a:solidFill>
                <a:latin typeface="Calibri"/>
              </a:rPr>
              <a:t>Web: www.faroconsulting.com   |   Contacto: contacto@faroconsulting.com   |   Sede: Santiago, Chile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