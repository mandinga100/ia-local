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viewPr>
    <p:normalViewPr>
      <p:restoredLeft sz="15620"/>
      <p:restoredTop sz="94600"/>
    </p:normalViewPr>
  </p:vie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Abrir la sesión enfatizando el objetivo estratégico: convertir las capacidades de IA local y automatización en eficiencia medible y ROI en 6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Puntualizar que la columna izquierda representa costos hundidos actuales y la derecha el ahorro proyectado.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Detallar que el 100% de soberanía es clave para el área legal y de auditoría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Subrayar que cada fase cuenta con entregables y criterios de aceptación formalmente auditados.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Cerrar con llamado explícito a la acción solicitando la firma del acta de inicio de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CL"/>
              <a:t>PLANTILLA OFICIAL FARO CONSULTING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Calibri"/>
              </a:defRPr>
            </a:pPr>
            <a:r>
              <a:rPr lang="es-CL"/>
              <a:t>Identidad Visual, Paleta Corporativa y Layouts Estructurados 16:9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Título de Diapositiva de Contenido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675120"/>
            <a:ext cx="11686032" cy="182880"/>
          </a:xfrm>
          <a:prstGeom prst="rect">
            <a:avLst/>
          </a:prstGeom>
          <a:solidFill>
            <a:srgbClr val="13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lang="es-CL">
                <a:solidFill>
                  <a:srgbClr val="38BDF8"/>
                </a:solidFill>
                <a:latin typeface="Calibri"/>
              </a:rPr>
              <a:t>FARO CONSULTING GROUP  |  ESTRATEGIA &amp; TRANSFORMACIÓN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CL"/>
              <a:t>Transformación Digital &amp; Estrategia IA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BD5E1"/>
                </a:solidFill>
                <a:latin typeface="Calibri"/>
              </a:defRPr>
            </a:pPr>
            <a:r>
              <a:rPr lang="es-CL"/>
              <a:t>Hoja de ruta integral para la modernización de procesos y ventaja competitiva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60120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94A3B8"/>
                </a:solidFill>
                <a:latin typeface="Calibri"/>
              </a:rPr>
              <a:t>Cliente: Dirección General &amp; Comité Ejecutivo   |   Preparado por: Faro Consulting Group — Práctica de Estrategia Digital   |   Fecha: Septiembre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01. DIAGNÓSTICO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Diagnóstico Estratégico y Oportunidad de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Evaluación del estado actual de operaciones frente a benchmarks del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520293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202936" cy="6400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8"/>
            <a:ext cx="4837176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 lang="es-CL">
                <a:solidFill>
                  <a:srgbClr val="FFFFFF"/>
                </a:solidFill>
                <a:latin typeface="Calibri"/>
              </a:rPr>
              <a:t>Desafíos Operativos Actuales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68880"/>
            <a:ext cx="474573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Sistemas heredados generan un 38% de sobrecosto operativo en tareas repetitivas.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Dispersión de información documental crítica retrasa la toma de decisiones en un promedio de 4.2 días.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Riesgo de cumplimiento normativo ante normativas crecientes de gobernanza y privacidad de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691640"/>
            <a:ext cx="520293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691640"/>
            <a:ext cx="5202936" cy="640080"/>
          </a:xfrm>
          <a:prstGeom prst="rect">
            <a:avLst/>
          </a:prstGeom>
          <a:solidFill>
            <a:srgbClr val="13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801368"/>
            <a:ext cx="4837176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 lang="es-CL">
                <a:solidFill>
                  <a:srgbClr val="FFFFFF"/>
                </a:solidFill>
                <a:latin typeface="Calibri"/>
              </a:rPr>
              <a:t>Propuesta de Valor &amp; 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468880"/>
            <a:ext cx="474573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Implementación de arquitectura IA soberana local con control absoluto de privacidad y seguridad.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Automatización de auditorías y procesamiento de contratos reduciendo tiempos a minutos.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Consolidación de un ecosistema escalable de skills que potencia al equipo multidisciplinario.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02. IMPACTO &amp; RENDIMIENTO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Impacto Proyectado y Retorno de Inversión (ROI)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Métricas cuantitativas estimadas al cabo del primer año de implementación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47573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1D4ED8"/>
                </a:solidFill>
                <a:latin typeface="Calibri"/>
              </a:rPr>
              <a:t>+65%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Velocidad Operativa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Aceleración en el análisis forense y auditoría documental integral.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1578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1578" y="1828800"/>
            <a:ext cx="247573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8738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D97706"/>
                </a:solidFill>
                <a:latin typeface="Calibri"/>
              </a:rPr>
              <a:t>4.8x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8738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Retorno de Inversión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7338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4458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ROI cuantificado a 12 meses basado en reducción de horas hombre y licencias externas.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828800"/>
            <a:ext cx="2475738" cy="109728"/>
          </a:xfrm>
          <a:prstGeom prst="rect">
            <a:avLst/>
          </a:prstGeom>
          <a:solidFill>
            <a:srgbClr val="13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8796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133C55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Soberanía de Datos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97396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4516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Procesamiento totalmente local on-premise sin fuga a nubes de terceros.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1694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81694" y="1828800"/>
            <a:ext cx="247573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8854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38BDF8"/>
                </a:solidFill>
                <a:latin typeface="Calibri"/>
              </a:rPr>
              <a:t>-40%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8854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Margen de Error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47454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4574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Disminución de discrepancias contractuales mediante validación automatizada.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03. PLAN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Fases de la Metodología FaroCG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Plan de despliegue progresivo estructurado en cuatro hitos críticos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99339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96596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Auditoría &amp; Descubrimiento de Infraestructura (Semanas 1-2)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233172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Levantamiento de capacidades de cómputo local, modelos compatibles y flujos prioritarios.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18211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7355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15468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Despliegue de Gateway &amp; Agentes Especializados (Semanas 3-5)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352044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Configuración del entorno soberano, integración de skills a la medida y bases vectoriales.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37083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6227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34340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Piloto Operativo Multidocumental (Semanas 6-8)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70916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Pruebas de estrés de análisis documental en paralelo con retroalimentación en tiempo real.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55955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5099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553212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Pase a Producción &amp; Capacitación Directiva (Semanas 9-10)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589788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Transferencia metodológica de mejores prácticas de prompting y gobernanza continua.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04. CONCLUSIÓN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Recomendaciones Finales del Consejo Consultor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Síntesis directiva para la aprobación del presupuesto y calendario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1072591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37160" cy="4389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lang="es-CL">
                <a:solidFill>
                  <a:srgbClr val="0B2545"/>
                </a:solidFill>
                <a:latin typeface="Calibri"/>
              </a:rPr>
              <a:t>La Modernización No Es Un Costo, Es Una Ventaja Competitiva Defensiva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La adopción de una arquitectura de IA local privada representa la ruta óptima para maximizar la seguridad informática y eliminar costos recurrentes de API propietarias.</a:t>
            </a:r>
          </a:p>
          <a:p>
            <a:pPr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La estandarización de herramientas como 'fcg-ppt' asegura coherencia de marca ininterrumpida y un estándar corporativo de excelencia en cada interacción con stakeholders.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846320"/>
            <a:ext cx="100584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846320"/>
            <a:ext cx="731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919472"/>
            <a:ext cx="9692640" cy="2743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 lang="es-CL">
                <a:solidFill>
                  <a:srgbClr val="1D4ED8"/>
                </a:solidFill>
                <a:latin typeface="Calibri"/>
              </a:rPr>
              <a:t>IMPLICANCIA ESTRATÉGICA / CONCLUSIÓN CLAVE: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969264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 lang="es-CL">
                <a:solidFill>
                  <a:srgbClr val="1E293B"/>
                </a:solidFill>
                <a:latin typeface="Calibri"/>
              </a:rPr>
              <a:t>La aprobación del presupuesto en Q3 asegura la captura de eficiencias operativas antes del cierre fiscal, consolidando a la organización como líder tecnológico en su industria.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32004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 lang="es-CL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 lang="es-CL">
                <a:solidFill>
                  <a:srgbClr val="CBD5E1"/>
                </a:solidFill>
                <a:latin typeface="Calibri"/>
              </a:rPr>
              <a:t>Faro Consulting Group — Guiando Decisiones Estratégicas con Inteligencia y 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38BDF8"/>
                </a:solidFill>
                <a:latin typeface="Calibri"/>
              </a:rPr>
              <a:t>Web: www.faroconsulting.com   |   Contacto: contacto@faroconsulting.com   |   Sede: Santiago, 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